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71" r:id="rId3"/>
    <p:sldId id="272" r:id="rId4"/>
    <p:sldId id="273" r:id="rId5"/>
    <p:sldId id="285" r:id="rId6"/>
    <p:sldId id="258" r:id="rId7"/>
    <p:sldId id="275" r:id="rId8"/>
    <p:sldId id="294" r:id="rId9"/>
    <p:sldId id="295" r:id="rId10"/>
    <p:sldId id="284" r:id="rId11"/>
    <p:sldId id="296" r:id="rId12"/>
    <p:sldId id="282" r:id="rId13"/>
    <p:sldId id="280" r:id="rId14"/>
    <p:sldId id="297" r:id="rId15"/>
    <p:sldId id="293" r:id="rId16"/>
    <p:sldId id="283" r:id="rId17"/>
    <p:sldId id="269" r:id="rId18"/>
  </p:sldIdLst>
  <p:sldSz cx="12192000" cy="6858000"/>
  <p:notesSz cx="6858000" cy="9144000"/>
  <p:embeddedFontLst>
    <p:embeddedFont>
      <p:font typeface="Arial Black" panose="020B0604020202020204" pitchFamily="34" charset="0"/>
      <p:bold r:id="rId20"/>
    </p:embeddedFont>
    <p:embeddedFont>
      <p:font typeface="Urbanist" panose="020B0A04040200000203" pitchFamily="34" charset="77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F426FC8-E294-4618-8870-1A7247393AB8}">
  <a:tblStyle styleId="{6F426FC8-E294-4618-8870-1A7247393AB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00"/>
    <p:restoredTop sz="94376"/>
  </p:normalViewPr>
  <p:slideViewPr>
    <p:cSldViewPr snapToGrid="0">
      <p:cViewPr varScale="1">
        <p:scale>
          <a:sx n="115" d="100"/>
          <a:sy n="115" d="100"/>
        </p:scale>
        <p:origin x="256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3964C105-35E1-61B8-3D02-432511CCD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FE0E1D9A-3BC1-5F45-C03F-74CD41840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FA10BE00-75BA-C890-C1DD-D88C074310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5826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20F399D2-44BB-1441-1695-2BE7C7E6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2ECD952F-4198-CEE0-0A1E-C9502C231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613502A3-9086-D0CF-5EA6-1EE1B75FC4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8744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880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D7962-2889-3521-D3CD-E9D820B55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90A13-0E69-9D70-4168-080C81488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9839E-5FDC-9924-BF9D-186038B32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321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E04FB-DE5D-B4A7-C2DA-8139198C8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37B9A-16D3-A645-7D26-BF4C13C87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92949B-10C0-B015-DF7B-766B4FA2C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260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5951BA30-9BC7-C814-4662-E4C730933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96D3FE1C-1E4D-C84F-141E-D511EE8CBA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31E81BAD-059D-978A-DD21-FDB0A8B713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1947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E17E4510-4D93-A4E2-7C08-054B0D678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3C55CD3A-CEB5-9F3C-6C80-6FD9B64571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FB94641A-5EA9-9D4E-2EB6-927E99A7E9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1464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E562EF95-22FC-D5D3-3453-20DCE7557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39C03DC5-DD5F-3962-1656-4050AFB681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944DD5E3-DAED-43F4-C178-D6160B2BE1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3299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26D74F78-21CE-4C54-2CD1-0EA49E84C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>
            <a:extLst>
              <a:ext uri="{FF2B5EF4-FFF2-40B4-BE49-F238E27FC236}">
                <a16:creationId xmlns:a16="http://schemas.microsoft.com/office/drawing/2014/main" id="{CF2A81C6-C869-8167-A5AE-3D9795352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EA53354F-3927-725F-1C6A-9262557AA7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11682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636639"/>
            <a:ext cx="11601450" cy="91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chemeClr val="bg1"/>
                </a:solidFill>
                <a:latin typeface="+mn-lt"/>
                <a:ea typeface="Urbanist"/>
                <a:cs typeface="Urbanist"/>
                <a:sym typeface="Urbanist"/>
              </a:rPr>
              <a:t>Beyond The @Mention</a:t>
            </a:r>
            <a:endParaRPr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581400"/>
            <a:ext cx="7655442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AFFDE"/>
                </a:solidFill>
                <a:latin typeface="+mj-lt"/>
                <a:ea typeface="Urbanist"/>
                <a:cs typeface="Urbanist"/>
                <a:sym typeface="Urbanist"/>
              </a:rPr>
              <a:t>W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+mj-lt"/>
                <a:ea typeface="Urbanist"/>
                <a:cs typeface="Urbanist"/>
                <a:sym typeface="Urbanist"/>
              </a:rPr>
              <a:t>hen sentiments tell a product story</a:t>
            </a:r>
            <a:endParaRPr lang="en-US" b="1" dirty="0">
              <a:latin typeface="+mj-lt"/>
            </a:endParaRPr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FB5DC374-3DC2-E7B8-944C-4E928DF02E75}"/>
              </a:ext>
            </a:extLst>
          </p:cNvPr>
          <p:cNvSpPr txBox="1"/>
          <p:nvPr/>
        </p:nvSpPr>
        <p:spPr>
          <a:xfrm>
            <a:off x="9431078" y="5387578"/>
            <a:ext cx="2465647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Kamau </a:t>
            </a:r>
            <a:r>
              <a:rPr lang="en-US" b="1" dirty="0" err="1">
                <a:solidFill>
                  <a:schemeClr val="bg1"/>
                </a:solidFill>
              </a:rPr>
              <a:t>Waithaka</a:t>
            </a:r>
            <a:endParaRPr lang="en-US" b="1" dirty="0">
              <a:solidFill>
                <a:schemeClr val="bg1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Moringa School Consulting</a:t>
            </a:r>
            <a:endParaRPr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CAE710A2-E615-4AEB-B317-C194B4B2D24F}"/>
              </a:ext>
            </a:extLst>
          </p:cNvPr>
          <p:cNvGrpSpPr/>
          <p:nvPr/>
        </p:nvGrpSpPr>
        <p:grpSpPr>
          <a:xfrm>
            <a:off x="1384151" y="1430176"/>
            <a:ext cx="9423698" cy="4691517"/>
            <a:chOff x="839097" y="1322599"/>
            <a:chExt cx="9423698" cy="469151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300E95E-EDA0-4BCE-B594-416FFB2764C2}"/>
                </a:ext>
              </a:extLst>
            </p:cNvPr>
            <p:cNvGrpSpPr/>
            <p:nvPr/>
          </p:nvGrpSpPr>
          <p:grpSpPr>
            <a:xfrm>
              <a:off x="839097" y="1322599"/>
              <a:ext cx="3829722" cy="957430"/>
              <a:chOff x="839097" y="1709874"/>
              <a:chExt cx="3829722" cy="95743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5C00C39-D213-4B56-B9F6-192C159B9467}"/>
                  </a:ext>
                </a:extLst>
              </p:cNvPr>
              <p:cNvSpPr/>
              <p:nvPr/>
            </p:nvSpPr>
            <p:spPr>
              <a:xfrm>
                <a:off x="839097" y="1709874"/>
                <a:ext cx="996777" cy="95743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anose="020B0A04020102020204" pitchFamily="34" charset="0"/>
                  </a:rPr>
                  <a:t>01</a:t>
                </a: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3D7A8B2-77EA-4FC4-A281-F9E4AF4867C1}"/>
                  </a:ext>
                </a:extLst>
              </p:cNvPr>
              <p:cNvGrpSpPr/>
              <p:nvPr/>
            </p:nvGrpSpPr>
            <p:grpSpPr>
              <a:xfrm>
                <a:off x="2054711" y="1730652"/>
                <a:ext cx="2614108" cy="368433"/>
                <a:chOff x="2054711" y="1624405"/>
                <a:chExt cx="2614108" cy="368433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34619B8-8B35-49D2-A11F-445FC467C1AF}"/>
                    </a:ext>
                  </a:extLst>
                </p:cNvPr>
                <p:cNvSpPr txBox="1"/>
                <p:nvPr/>
              </p:nvSpPr>
              <p:spPr>
                <a:xfrm>
                  <a:off x="2054711" y="1624405"/>
                  <a:ext cx="26141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Executive Summary</a:t>
                  </a:r>
                </a:p>
              </p:txBody>
            </p:sp>
            <p:sp>
              <p:nvSpPr>
                <p:cNvPr id="7" name="Rectangle: Rounded Corners 6">
                  <a:extLst>
                    <a:ext uri="{FF2B5EF4-FFF2-40B4-BE49-F238E27FC236}">
                      <a16:creationId xmlns:a16="http://schemas.microsoft.com/office/drawing/2014/main" id="{8B1C6198-7363-4830-8E58-2E46AC7C9CA7}"/>
                    </a:ext>
                  </a:extLst>
                </p:cNvPr>
                <p:cNvSpPr/>
                <p:nvPr/>
              </p:nvSpPr>
              <p:spPr>
                <a:xfrm>
                  <a:off x="2162291" y="1956403"/>
                  <a:ext cx="1137998" cy="36435"/>
                </a:xfrm>
                <a:prstGeom prst="roundRect">
                  <a:avLst>
                    <a:gd name="adj" fmla="val 50000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ADF9F2C-7AA6-4D50-90BE-D4532EB8ADC6}"/>
                </a:ext>
              </a:extLst>
            </p:cNvPr>
            <p:cNvGrpSpPr/>
            <p:nvPr/>
          </p:nvGrpSpPr>
          <p:grpSpPr>
            <a:xfrm>
              <a:off x="839097" y="3189642"/>
              <a:ext cx="3829722" cy="957430"/>
              <a:chOff x="839097" y="1709874"/>
              <a:chExt cx="3829722" cy="95743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1A0B96B-2B12-47B7-A584-FBAE65D5186A}"/>
                  </a:ext>
                </a:extLst>
              </p:cNvPr>
              <p:cNvSpPr/>
              <p:nvPr/>
            </p:nvSpPr>
            <p:spPr>
              <a:xfrm>
                <a:off x="839097" y="1709874"/>
                <a:ext cx="996777" cy="95743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anose="020B0A04020102020204" pitchFamily="34" charset="0"/>
                  </a:rPr>
                  <a:t>02</a:t>
                </a: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0DADD54-8149-4B02-A0AB-186441CF0DD3}"/>
                  </a:ext>
                </a:extLst>
              </p:cNvPr>
              <p:cNvGrpSpPr/>
              <p:nvPr/>
            </p:nvGrpSpPr>
            <p:grpSpPr>
              <a:xfrm>
                <a:off x="2054711" y="1730652"/>
                <a:ext cx="2614108" cy="523220"/>
                <a:chOff x="2054711" y="1624405"/>
                <a:chExt cx="2614108" cy="523220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0AEA0D6-F214-46D6-BABE-796BA885CC5B}"/>
                    </a:ext>
                  </a:extLst>
                </p:cNvPr>
                <p:cNvSpPr txBox="1"/>
                <p:nvPr/>
              </p:nvSpPr>
              <p:spPr>
                <a:xfrm>
                  <a:off x="2054711" y="1624405"/>
                  <a:ext cx="261410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Business and Data Understanding</a:t>
                  </a:r>
                  <a:r>
                    <a:rPr lang="en-US" sz="1400" b="1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 </a:t>
                  </a:r>
                </a:p>
              </p:txBody>
            </p:sp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id="{895222DA-B7D0-4BEA-AB7A-05A00CEE7B59}"/>
                    </a:ext>
                  </a:extLst>
                </p:cNvPr>
                <p:cNvSpPr/>
                <p:nvPr/>
              </p:nvSpPr>
              <p:spPr>
                <a:xfrm>
                  <a:off x="2162291" y="1956403"/>
                  <a:ext cx="1137998" cy="364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5476D75-6119-479B-B092-3D09D20E3EBE}"/>
                </a:ext>
              </a:extLst>
            </p:cNvPr>
            <p:cNvGrpSpPr/>
            <p:nvPr/>
          </p:nvGrpSpPr>
          <p:grpSpPr>
            <a:xfrm>
              <a:off x="839097" y="5056686"/>
              <a:ext cx="3829722" cy="957430"/>
              <a:chOff x="839097" y="1709874"/>
              <a:chExt cx="3829722" cy="9574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64320B2-D146-40C3-93FA-71F79CC7E331}"/>
                  </a:ext>
                </a:extLst>
              </p:cNvPr>
              <p:cNvSpPr/>
              <p:nvPr/>
            </p:nvSpPr>
            <p:spPr>
              <a:xfrm>
                <a:off x="839097" y="1709874"/>
                <a:ext cx="996777" cy="95743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anose="020B0A04020102020204" pitchFamily="34" charset="0"/>
                  </a:rPr>
                  <a:t>03</a:t>
                </a: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E5139006-3072-4CFE-8BAB-BAB8C060F9B4}"/>
                  </a:ext>
                </a:extLst>
              </p:cNvPr>
              <p:cNvGrpSpPr/>
              <p:nvPr/>
            </p:nvGrpSpPr>
            <p:grpSpPr>
              <a:xfrm>
                <a:off x="2054711" y="1730652"/>
                <a:ext cx="2614108" cy="368433"/>
                <a:chOff x="2054711" y="1624405"/>
                <a:chExt cx="2614108" cy="368433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ABF6806-9D3C-4448-8A09-E12E035C9F28}"/>
                    </a:ext>
                  </a:extLst>
                </p:cNvPr>
                <p:cNvSpPr txBox="1"/>
                <p:nvPr/>
              </p:nvSpPr>
              <p:spPr>
                <a:xfrm>
                  <a:off x="2054711" y="1624405"/>
                  <a:ext cx="26141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EDA</a:t>
                  </a:r>
                </a:p>
              </p:txBody>
            </p:sp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7836F577-3C78-4EC4-8677-B8AAFC390D2F}"/>
                    </a:ext>
                  </a:extLst>
                </p:cNvPr>
                <p:cNvSpPr/>
                <p:nvPr/>
              </p:nvSpPr>
              <p:spPr>
                <a:xfrm>
                  <a:off x="2162291" y="1956403"/>
                  <a:ext cx="1137998" cy="364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7D807A-D227-43DE-9E92-5C0DBB935ACF}"/>
                </a:ext>
              </a:extLst>
            </p:cNvPr>
            <p:cNvGrpSpPr/>
            <p:nvPr/>
          </p:nvGrpSpPr>
          <p:grpSpPr>
            <a:xfrm>
              <a:off x="6433073" y="1322599"/>
              <a:ext cx="3829722" cy="957430"/>
              <a:chOff x="839097" y="1709874"/>
              <a:chExt cx="3829722" cy="95743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8CC7EC5-50AA-45E9-93A1-F54B83DEFD4E}"/>
                  </a:ext>
                </a:extLst>
              </p:cNvPr>
              <p:cNvSpPr/>
              <p:nvPr/>
            </p:nvSpPr>
            <p:spPr>
              <a:xfrm>
                <a:off x="839097" y="1709874"/>
                <a:ext cx="996777" cy="95743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anose="020B0A04020102020204" pitchFamily="34" charset="0"/>
                  </a:rPr>
                  <a:t>04</a:t>
                </a: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8F4F1B2D-8D3A-4991-92C7-EAD28EB7C97E}"/>
                  </a:ext>
                </a:extLst>
              </p:cNvPr>
              <p:cNvGrpSpPr/>
              <p:nvPr/>
            </p:nvGrpSpPr>
            <p:grpSpPr>
              <a:xfrm>
                <a:off x="2054711" y="1730652"/>
                <a:ext cx="2614108" cy="368433"/>
                <a:chOff x="2054711" y="1624405"/>
                <a:chExt cx="2614108" cy="368433"/>
              </a:xfrm>
            </p:grpSpPr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495E09C-4F6A-4877-9F71-DC6D5E48A320}"/>
                    </a:ext>
                  </a:extLst>
                </p:cNvPr>
                <p:cNvSpPr txBox="1"/>
                <p:nvPr/>
              </p:nvSpPr>
              <p:spPr>
                <a:xfrm>
                  <a:off x="2054711" y="1624405"/>
                  <a:ext cx="26141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Modelling  </a:t>
                  </a:r>
                  <a:endParaRPr lang="en-US" sz="1400" b="1" dirty="0">
                    <a:solidFill>
                      <a:schemeClr val="bg1"/>
                    </a:solidFill>
                    <a:latin typeface="Arial Black" panose="020B0A04020102020204" pitchFamily="34" charset="0"/>
                  </a:endParaRPr>
                </a:p>
              </p:txBody>
            </p:sp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EBB6D333-F62D-4EC1-8B52-3A357F4EDA32}"/>
                    </a:ext>
                  </a:extLst>
                </p:cNvPr>
                <p:cNvSpPr/>
                <p:nvPr/>
              </p:nvSpPr>
              <p:spPr>
                <a:xfrm>
                  <a:off x="2162291" y="1956403"/>
                  <a:ext cx="1137998" cy="364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B820149-0C53-4275-8EB3-C50EC0B12C16}"/>
                </a:ext>
              </a:extLst>
            </p:cNvPr>
            <p:cNvGrpSpPr/>
            <p:nvPr/>
          </p:nvGrpSpPr>
          <p:grpSpPr>
            <a:xfrm>
              <a:off x="6433073" y="3189642"/>
              <a:ext cx="3829722" cy="957430"/>
              <a:chOff x="839097" y="1709874"/>
              <a:chExt cx="3829722" cy="957430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2C427E3-541B-4F7F-9E88-3518E33DCA5D}"/>
                  </a:ext>
                </a:extLst>
              </p:cNvPr>
              <p:cNvSpPr/>
              <p:nvPr/>
            </p:nvSpPr>
            <p:spPr>
              <a:xfrm>
                <a:off x="839097" y="1709874"/>
                <a:ext cx="996777" cy="95743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anose="020B0A04020102020204" pitchFamily="34" charset="0"/>
                  </a:rPr>
                  <a:t>05</a:t>
                </a:r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456C5FDC-18C0-43F7-A99D-CCB374E35E27}"/>
                  </a:ext>
                </a:extLst>
              </p:cNvPr>
              <p:cNvGrpSpPr/>
              <p:nvPr/>
            </p:nvGrpSpPr>
            <p:grpSpPr>
              <a:xfrm>
                <a:off x="2054711" y="1730652"/>
                <a:ext cx="2614108" cy="368433"/>
                <a:chOff x="2054711" y="1624405"/>
                <a:chExt cx="2614108" cy="368433"/>
              </a:xfrm>
            </p:grpSpPr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259583A-BB5B-4572-8DBC-F3575E14C4FB}"/>
                    </a:ext>
                  </a:extLst>
                </p:cNvPr>
                <p:cNvSpPr txBox="1"/>
                <p:nvPr/>
              </p:nvSpPr>
              <p:spPr>
                <a:xfrm>
                  <a:off x="2054711" y="1624405"/>
                  <a:ext cx="26141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Insights  </a:t>
                  </a:r>
                  <a:endParaRPr lang="en-US" sz="1400" b="1" dirty="0">
                    <a:solidFill>
                      <a:schemeClr val="bg1"/>
                    </a:solidFill>
                    <a:latin typeface="Arial Black" panose="020B0A04020102020204" pitchFamily="34" charset="0"/>
                  </a:endParaRPr>
                </a:p>
              </p:txBody>
            </p:sp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224ACA68-3847-4BF2-A5E4-2F97BC5483C1}"/>
                    </a:ext>
                  </a:extLst>
                </p:cNvPr>
                <p:cNvSpPr/>
                <p:nvPr/>
              </p:nvSpPr>
              <p:spPr>
                <a:xfrm>
                  <a:off x="2162291" y="1956403"/>
                  <a:ext cx="1137998" cy="364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69DC2F1-BE5C-441E-83BE-45BDF4B655E3}"/>
                </a:ext>
              </a:extLst>
            </p:cNvPr>
            <p:cNvGrpSpPr/>
            <p:nvPr/>
          </p:nvGrpSpPr>
          <p:grpSpPr>
            <a:xfrm>
              <a:off x="6433073" y="5056686"/>
              <a:ext cx="3829722" cy="957430"/>
              <a:chOff x="839097" y="1709874"/>
              <a:chExt cx="3829722" cy="95743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5B3C899-FBE3-40CF-B318-90C5C0084505}"/>
                  </a:ext>
                </a:extLst>
              </p:cNvPr>
              <p:cNvSpPr/>
              <p:nvPr/>
            </p:nvSpPr>
            <p:spPr>
              <a:xfrm>
                <a:off x="839097" y="1709874"/>
                <a:ext cx="996777" cy="95743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anose="020B0A04020102020204" pitchFamily="34" charset="0"/>
                  </a:rPr>
                  <a:t>06</a:t>
                </a: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5CE3BBBE-5B76-464C-8192-4D38EC8E3C18}"/>
                  </a:ext>
                </a:extLst>
              </p:cNvPr>
              <p:cNvGrpSpPr/>
              <p:nvPr/>
            </p:nvGrpSpPr>
            <p:grpSpPr>
              <a:xfrm>
                <a:off x="2054711" y="1730652"/>
                <a:ext cx="2614108" cy="368433"/>
                <a:chOff x="2054711" y="1624405"/>
                <a:chExt cx="2614108" cy="368433"/>
              </a:xfrm>
            </p:grpSpPr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65E811F-ABE7-44FF-9CD7-7A061244BF11}"/>
                    </a:ext>
                  </a:extLst>
                </p:cNvPr>
                <p:cNvSpPr txBox="1"/>
                <p:nvPr/>
              </p:nvSpPr>
              <p:spPr>
                <a:xfrm>
                  <a:off x="2054711" y="1624405"/>
                  <a:ext cx="26141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Recommendations</a:t>
                  </a:r>
                  <a:r>
                    <a:rPr lang="en-US" b="1" dirty="0">
                      <a:latin typeface="Arial Black" panose="020B0A04020102020204" pitchFamily="34" charset="0"/>
                    </a:rPr>
                    <a:t> </a:t>
                  </a:r>
                  <a:endParaRPr lang="en-US" sz="1400" b="1" dirty="0">
                    <a:latin typeface="Arial Black" panose="020B0A04020102020204" pitchFamily="34" charset="0"/>
                  </a:endParaRPr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8BFB9FA1-F736-43C3-8418-45B57BF10653}"/>
                    </a:ext>
                  </a:extLst>
                </p:cNvPr>
                <p:cNvSpPr/>
                <p:nvPr/>
              </p:nvSpPr>
              <p:spPr>
                <a:xfrm>
                  <a:off x="2162291" y="1956403"/>
                  <a:ext cx="1137998" cy="364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DB7FEC4-9B07-4B16-9772-A2294792DDCC}"/>
              </a:ext>
            </a:extLst>
          </p:cNvPr>
          <p:cNvSpPr txBox="1"/>
          <p:nvPr/>
        </p:nvSpPr>
        <p:spPr>
          <a:xfrm>
            <a:off x="0" y="247427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Outline</a:t>
            </a:r>
          </a:p>
        </p:txBody>
      </p:sp>
    </p:spTree>
    <p:extLst>
      <p:ext uri="{BB962C8B-B14F-4D97-AF65-F5344CB8AC3E}">
        <p14:creationId xmlns:p14="http://schemas.microsoft.com/office/powerpoint/2010/main" val="4169648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25D4A478-A460-FF32-94CE-0577EE457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3E18F651-5309-76AB-7574-28FCDF7D13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7054" y="201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>
            <a:extLst>
              <a:ext uri="{FF2B5EF4-FFF2-40B4-BE49-F238E27FC236}">
                <a16:creationId xmlns:a16="http://schemas.microsoft.com/office/drawing/2014/main" id="{1C8DBE15-57C8-EA5B-AE53-42ADCA791C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11017"/>
            <a:ext cx="11049000" cy="62091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72261731-A85D-BB68-D2C4-B8E9C19D31CC}"/>
              </a:ext>
            </a:extLst>
          </p:cNvPr>
          <p:cNvSpPr txBox="1"/>
          <p:nvPr/>
        </p:nvSpPr>
        <p:spPr>
          <a:xfrm>
            <a:off x="571500" y="3810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</a:t>
            </a:r>
            <a:r>
              <a:rPr lang="en-US" sz="36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rPr>
              <a:t>Overview</a:t>
            </a:r>
            <a:endParaRPr dirty="0">
              <a:latin typeface="+mn-lt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CF9B8B1E-E3AF-9805-2DEC-B25CC0EED714}"/>
              </a:ext>
            </a:extLst>
          </p:cNvPr>
          <p:cNvSpPr txBox="1"/>
          <p:nvPr/>
        </p:nvSpPr>
        <p:spPr>
          <a:xfrm>
            <a:off x="800100" y="5001517"/>
            <a:ext cx="1062990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</a:t>
            </a:r>
            <a:r>
              <a:rPr lang="en-US" sz="135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urning every emotion into business insights .</a:t>
            </a:r>
            <a:endParaRPr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3AB3844-71EE-BAD2-6383-191D7F16CE65}"/>
              </a:ext>
            </a:extLst>
          </p:cNvPr>
          <p:cNvGrpSpPr/>
          <p:nvPr/>
        </p:nvGrpSpPr>
        <p:grpSpPr>
          <a:xfrm>
            <a:off x="3936657" y="1313983"/>
            <a:ext cx="3765499" cy="2968000"/>
            <a:chOff x="4127601" y="1313983"/>
            <a:chExt cx="3765499" cy="2968000"/>
          </a:xfrm>
        </p:grpSpPr>
        <p:pic>
          <p:nvPicPr>
            <p:cNvPr id="93" name="Google Shape;93;p14" descr="image.png">
              <a:extLst>
                <a:ext uri="{FF2B5EF4-FFF2-40B4-BE49-F238E27FC236}">
                  <a16:creationId xmlns:a16="http://schemas.microsoft.com/office/drawing/2014/main" id="{50D36838-2F32-B3F6-EC01-EBA9F906F17F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27601" y="1313983"/>
              <a:ext cx="3765499" cy="296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4" descr="image.png">
              <a:extLst>
                <a:ext uri="{FF2B5EF4-FFF2-40B4-BE49-F238E27FC236}">
                  <a16:creationId xmlns:a16="http://schemas.microsoft.com/office/drawing/2014/main" id="{62551AE1-85C9-C5AE-87B9-40C7D26F9F0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15874" y="1467089"/>
              <a:ext cx="29654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14">
              <a:extLst>
                <a:ext uri="{FF2B5EF4-FFF2-40B4-BE49-F238E27FC236}">
                  <a16:creationId xmlns:a16="http://schemas.microsoft.com/office/drawing/2014/main" id="{B5D39F94-8217-617C-C1F2-DEE359815178}"/>
                </a:ext>
              </a:extLst>
            </p:cNvPr>
            <p:cNvSpPr txBox="1"/>
            <p:nvPr/>
          </p:nvSpPr>
          <p:spPr>
            <a:xfrm>
              <a:off x="4528155" y="2001195"/>
              <a:ext cx="3113670" cy="1483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Business Case</a:t>
              </a:r>
            </a:p>
            <a:p>
              <a:pPr marL="285750" marR="0" lvl="0" indent="-28575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  <a:latin typeface="+mn-lt"/>
                  <a:ea typeface="Urbanist"/>
                  <a:cs typeface="Urbanist"/>
                </a:rPr>
                <a:t>Transform massive volumes of unstructured, noisy social media text into structured, actionable business intelligence.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165D4FF-2316-52CC-8256-6350DEB171AC}"/>
              </a:ext>
            </a:extLst>
          </p:cNvPr>
          <p:cNvGrpSpPr/>
          <p:nvPr/>
        </p:nvGrpSpPr>
        <p:grpSpPr>
          <a:xfrm>
            <a:off x="221476" y="1307548"/>
            <a:ext cx="3451175" cy="3070123"/>
            <a:chOff x="221476" y="1307548"/>
            <a:chExt cx="3451175" cy="3070123"/>
          </a:xfrm>
        </p:grpSpPr>
        <p:pic>
          <p:nvPicPr>
            <p:cNvPr id="94" name="Google Shape;94;p14" descr="image.png">
              <a:extLst>
                <a:ext uri="{FF2B5EF4-FFF2-40B4-BE49-F238E27FC236}">
                  <a16:creationId xmlns:a16="http://schemas.microsoft.com/office/drawing/2014/main" id="{925ECF45-D772-1EC1-ABA5-4258940B21BE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21476" y="1307548"/>
              <a:ext cx="3451175" cy="30701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4" descr="image.png">
              <a:extLst>
                <a:ext uri="{FF2B5EF4-FFF2-40B4-BE49-F238E27FC236}">
                  <a16:creationId xmlns:a16="http://schemas.microsoft.com/office/drawing/2014/main" id="{7A5C8E1B-F50D-0C61-CFE6-FB699FB2EB12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55429" y="1448929"/>
              <a:ext cx="29654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4">
              <a:extLst>
                <a:ext uri="{FF2B5EF4-FFF2-40B4-BE49-F238E27FC236}">
                  <a16:creationId xmlns:a16="http://schemas.microsoft.com/office/drawing/2014/main" id="{A9EFA4CB-493A-5059-DD73-9EF5A3531F49}"/>
                </a:ext>
              </a:extLst>
            </p:cNvPr>
            <p:cNvSpPr txBox="1"/>
            <p:nvPr/>
          </p:nvSpPr>
          <p:spPr>
            <a:xfrm>
              <a:off x="411748" y="2065827"/>
              <a:ext cx="3070630" cy="2031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Business Case</a:t>
              </a:r>
              <a:r>
                <a:rPr lang="en-US" sz="1800" b="1" i="0" u="none" strike="noStrike" cap="none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.</a:t>
              </a:r>
            </a:p>
            <a:p>
              <a:pPr marL="285750" marR="0" lvl="0" indent="-2857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  <a:latin typeface="+mn-lt"/>
                  <a:ea typeface="Urbanist"/>
                  <a:cs typeface="Urbanist"/>
                </a:rPr>
                <a:t>Social media provides real-time customer feedback, making sentiment analysis valuable for product development, customer support, and brand monitoring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rPr>
                <a:t>.</a:t>
              </a:r>
              <a:endParaRPr lang="en-US" b="1" dirty="0">
                <a:latin typeface="+mn-lt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F57D320-CBCE-231A-DB4F-55B5B7490200}"/>
              </a:ext>
            </a:extLst>
          </p:cNvPr>
          <p:cNvGrpSpPr/>
          <p:nvPr/>
        </p:nvGrpSpPr>
        <p:grpSpPr>
          <a:xfrm>
            <a:off x="7917403" y="1367879"/>
            <a:ext cx="3512598" cy="2967999"/>
            <a:chOff x="7917403" y="1367879"/>
            <a:chExt cx="3512598" cy="2967999"/>
          </a:xfrm>
        </p:grpSpPr>
        <p:pic>
          <p:nvPicPr>
            <p:cNvPr id="95" name="Google Shape;95;p14" descr="image.png">
              <a:extLst>
                <a:ext uri="{FF2B5EF4-FFF2-40B4-BE49-F238E27FC236}">
                  <a16:creationId xmlns:a16="http://schemas.microsoft.com/office/drawing/2014/main" id="{B4264D2E-3E15-B377-E60A-AF23FC2FC454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917403" y="1367879"/>
              <a:ext cx="3512598" cy="296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4" descr="image.png">
              <a:extLst>
                <a:ext uri="{FF2B5EF4-FFF2-40B4-BE49-F238E27FC236}">
                  <a16:creationId xmlns:a16="http://schemas.microsoft.com/office/drawing/2014/main" id="{CD900D8A-97D2-8157-BF02-399ABA5DF606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083304" y="1512458"/>
              <a:ext cx="2965549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F1D58A24-9ED4-C6B8-05DA-094121608AA4}"/>
                </a:ext>
              </a:extLst>
            </p:cNvPr>
            <p:cNvSpPr txBox="1"/>
            <p:nvPr/>
          </p:nvSpPr>
          <p:spPr>
            <a:xfrm>
              <a:off x="8147350" y="1907644"/>
              <a:ext cx="3282649" cy="2148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Key Objectives. 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indent="-285750">
                <a:lnSpc>
                  <a:spcPct val="139925"/>
                </a:lnSpc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  <a:latin typeface="+mn-lt"/>
                  <a:ea typeface="Urbanist"/>
                  <a:cs typeface="Urbanist"/>
                </a:rPr>
                <a:t>Baseline Development</a:t>
              </a:r>
              <a:r>
                <a:rPr lang="en-US" b="1" dirty="0">
                  <a:solidFill>
                    <a:schemeClr val="bg1"/>
                  </a:solidFill>
                  <a:latin typeface="+mn-lt"/>
                  <a:ea typeface="Urbanist"/>
                  <a:cs typeface="Urbanist"/>
                  <a:sym typeface="Urbanist"/>
                </a:rPr>
                <a:t>.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Benchmark Performance.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b="1" dirty="0" err="1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Interative</a:t>
              </a:r>
              <a:r>
                <a:rPr lang="en-US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 Optimization 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Propose Retention strategy</a:t>
              </a:r>
              <a:endParaRPr b="1" dirty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9080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57A54329-59F5-53D1-9B7F-30AD087B2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9366E5F2-B678-2BE0-3DB0-75FB4139B6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7054" y="201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>
            <a:extLst>
              <a:ext uri="{FF2B5EF4-FFF2-40B4-BE49-F238E27FC236}">
                <a16:creationId xmlns:a16="http://schemas.microsoft.com/office/drawing/2014/main" id="{FA777AE5-6B21-FE29-9565-D5B0474E07B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11017"/>
            <a:ext cx="11049000" cy="62091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BCF74BD6-53E3-48AD-E970-CB66FF07952B}"/>
              </a:ext>
            </a:extLst>
          </p:cNvPr>
          <p:cNvSpPr txBox="1"/>
          <p:nvPr/>
        </p:nvSpPr>
        <p:spPr>
          <a:xfrm>
            <a:off x="571500" y="3810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rPr>
              <a:t>Load, Explore, Clean</a:t>
            </a:r>
            <a:endParaRPr dirty="0">
              <a:latin typeface="+mn-lt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6C6820C3-5B13-0C6A-F9C5-41DA42AED845}"/>
              </a:ext>
            </a:extLst>
          </p:cNvPr>
          <p:cNvSpPr txBox="1"/>
          <p:nvPr/>
        </p:nvSpPr>
        <p:spPr>
          <a:xfrm>
            <a:off x="800100" y="5001517"/>
            <a:ext cx="1062990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Analyze what you know!  </a:t>
            </a:r>
            <a:endParaRPr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AA45B6-8A29-F021-E9AF-D1E6257561AA}"/>
              </a:ext>
            </a:extLst>
          </p:cNvPr>
          <p:cNvGrpSpPr/>
          <p:nvPr/>
        </p:nvGrpSpPr>
        <p:grpSpPr>
          <a:xfrm>
            <a:off x="3936657" y="1313983"/>
            <a:ext cx="3765499" cy="2979808"/>
            <a:chOff x="4127601" y="1313983"/>
            <a:chExt cx="3765499" cy="2979808"/>
          </a:xfrm>
        </p:grpSpPr>
        <p:pic>
          <p:nvPicPr>
            <p:cNvPr id="93" name="Google Shape;93;p14" descr="image.png">
              <a:extLst>
                <a:ext uri="{FF2B5EF4-FFF2-40B4-BE49-F238E27FC236}">
                  <a16:creationId xmlns:a16="http://schemas.microsoft.com/office/drawing/2014/main" id="{0540A25F-B8AF-07AB-35C8-5BDFDE3E3522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27601" y="1313983"/>
              <a:ext cx="3765499" cy="296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4" descr="image.png">
              <a:extLst>
                <a:ext uri="{FF2B5EF4-FFF2-40B4-BE49-F238E27FC236}">
                  <a16:creationId xmlns:a16="http://schemas.microsoft.com/office/drawing/2014/main" id="{7867F842-3BB5-C72C-87C9-31B7F913BAD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15874" y="1467089"/>
              <a:ext cx="29654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14">
              <a:extLst>
                <a:ext uri="{FF2B5EF4-FFF2-40B4-BE49-F238E27FC236}">
                  <a16:creationId xmlns:a16="http://schemas.microsoft.com/office/drawing/2014/main" id="{930B99BD-E509-0330-AA30-AD0F2D33F23D}"/>
                </a:ext>
              </a:extLst>
            </p:cNvPr>
            <p:cNvSpPr txBox="1"/>
            <p:nvPr/>
          </p:nvSpPr>
          <p:spPr>
            <a:xfrm>
              <a:off x="4453515" y="1905445"/>
              <a:ext cx="3113670" cy="2388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Explore</a:t>
              </a:r>
              <a:endParaRPr lang="en-US" sz="1800" b="1" i="0" u="none" strike="noStrike" cap="none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+mn-lt"/>
                  <a:ea typeface="Urbanist"/>
                  <a:cs typeface="Urbanist"/>
                  <a:sym typeface="Urbanist"/>
                </a:rPr>
                <a:t>The data had 9,093 rows and 3 columns</a:t>
              </a:r>
              <a:r>
                <a:rPr lang="en-US" b="0" i="0" u="none" strike="noStrike" cap="none" dirty="0">
                  <a:solidFill>
                    <a:schemeClr val="bg1"/>
                  </a:solidFill>
                  <a:latin typeface="+mn-lt"/>
                  <a:ea typeface="Urbanist"/>
                  <a:cs typeface="Urbanist"/>
                  <a:sym typeface="Urbanist"/>
                </a:rPr>
                <a:t>.</a:t>
              </a:r>
            </a:p>
            <a:p>
              <a:pPr marL="285750" marR="0" lvl="0" indent="-28575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b="0" i="0" u="none" strike="noStrike" cap="none" dirty="0">
                <a:solidFill>
                  <a:schemeClr val="bg1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+mn-lt"/>
                  <a:ea typeface="Urbanist"/>
                  <a:cs typeface="Urbanist"/>
                  <a:sym typeface="Urbanist"/>
                </a:rPr>
                <a:t>Data had float, float and integers . </a:t>
              </a:r>
            </a:p>
            <a:p>
              <a:pPr marL="285750" marR="0" lvl="0" indent="-28575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bg1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+mn-lt"/>
                  <a:ea typeface="Urbanist"/>
                  <a:cs typeface="Urbanist"/>
                  <a:sym typeface="Urbanist"/>
                </a:rPr>
                <a:t>Duplicates(22) and missing data (5,082)</a:t>
              </a:r>
              <a:endParaRPr lang="en-US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AE8EFBA-86DE-EC42-2BB3-74B3728BE8AF}"/>
              </a:ext>
            </a:extLst>
          </p:cNvPr>
          <p:cNvGrpSpPr/>
          <p:nvPr/>
        </p:nvGrpSpPr>
        <p:grpSpPr>
          <a:xfrm>
            <a:off x="221476" y="1307548"/>
            <a:ext cx="3451175" cy="3070123"/>
            <a:chOff x="221476" y="1307548"/>
            <a:chExt cx="3451175" cy="3070123"/>
          </a:xfrm>
        </p:grpSpPr>
        <p:pic>
          <p:nvPicPr>
            <p:cNvPr id="94" name="Google Shape;94;p14" descr="image.png">
              <a:extLst>
                <a:ext uri="{FF2B5EF4-FFF2-40B4-BE49-F238E27FC236}">
                  <a16:creationId xmlns:a16="http://schemas.microsoft.com/office/drawing/2014/main" id="{10765150-73FB-B6C7-B6EB-879A44A10FC2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21476" y="1307548"/>
              <a:ext cx="3451175" cy="30701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4" descr="image.png">
              <a:extLst>
                <a:ext uri="{FF2B5EF4-FFF2-40B4-BE49-F238E27FC236}">
                  <a16:creationId xmlns:a16="http://schemas.microsoft.com/office/drawing/2014/main" id="{9073EA08-586C-AAF4-3A78-6F018932E6AB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55429" y="1448929"/>
              <a:ext cx="29654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4">
              <a:extLst>
                <a:ext uri="{FF2B5EF4-FFF2-40B4-BE49-F238E27FC236}">
                  <a16:creationId xmlns:a16="http://schemas.microsoft.com/office/drawing/2014/main" id="{21DDC993-4BD1-6176-D122-50B96D724471}"/>
                </a:ext>
              </a:extLst>
            </p:cNvPr>
            <p:cNvSpPr txBox="1"/>
            <p:nvPr/>
          </p:nvSpPr>
          <p:spPr>
            <a:xfrm>
              <a:off x="416849" y="1898163"/>
              <a:ext cx="3070630" cy="206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Load.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1" i="0" u="none" strike="noStrike" cap="none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Necessary libraries were loaded . 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The dataset “</a:t>
              </a:r>
              <a:r>
                <a:rPr lang="en-US" dirty="0" err="1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Tweet_NLP</a:t>
              </a:r>
              <a:r>
                <a:rPr lang="en-US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” was used for the analysis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Python Language on </a:t>
              </a:r>
              <a:r>
                <a:rPr lang="en-US" dirty="0" err="1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Jupyter</a:t>
              </a:r>
              <a:r>
                <a:rPr lang="en-US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 Notebook platform.</a:t>
              </a:r>
              <a:endParaRPr dirty="0">
                <a:latin typeface="+mn-lt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0115CEE-0C80-1DC9-E48C-D348EC10BD04}"/>
              </a:ext>
            </a:extLst>
          </p:cNvPr>
          <p:cNvGrpSpPr/>
          <p:nvPr/>
        </p:nvGrpSpPr>
        <p:grpSpPr>
          <a:xfrm>
            <a:off x="7917403" y="1367879"/>
            <a:ext cx="3512598" cy="2971200"/>
            <a:chOff x="7917403" y="1367879"/>
            <a:chExt cx="3512598" cy="2971200"/>
          </a:xfrm>
        </p:grpSpPr>
        <p:pic>
          <p:nvPicPr>
            <p:cNvPr id="95" name="Google Shape;95;p14" descr="image.png">
              <a:extLst>
                <a:ext uri="{FF2B5EF4-FFF2-40B4-BE49-F238E27FC236}">
                  <a16:creationId xmlns:a16="http://schemas.microsoft.com/office/drawing/2014/main" id="{44B37891-AD44-D47D-72E5-857AB5F6C83B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917403" y="1367879"/>
              <a:ext cx="3512598" cy="296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4" descr="image.png">
              <a:extLst>
                <a:ext uri="{FF2B5EF4-FFF2-40B4-BE49-F238E27FC236}">
                  <a16:creationId xmlns:a16="http://schemas.microsoft.com/office/drawing/2014/main" id="{FADD544B-20DE-DEB5-C50C-8E57F2AC4546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083304" y="1512458"/>
              <a:ext cx="2965549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FEF145BD-F392-E07F-6C3A-99C07BFA0477}"/>
                </a:ext>
              </a:extLst>
            </p:cNvPr>
            <p:cNvSpPr txBox="1"/>
            <p:nvPr/>
          </p:nvSpPr>
          <p:spPr>
            <a:xfrm>
              <a:off x="8147350" y="1907644"/>
              <a:ext cx="3282649" cy="24314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Clean. 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Dropping redundant columns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Converting into customer usage patterns and rations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Adding missing columns.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Creating column to check customer </a:t>
              </a:r>
              <a:r>
                <a:rPr lang="en-US" dirty="0" err="1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behaviour</a:t>
              </a:r>
              <a:endParaRPr lang="en-US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</a:pPr>
              <a:endParaRPr lang="en-US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2996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DB5E8E-8EEA-22CD-8FF6-D438C8C45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Magnifying Glass on Financial Charts, Orange Bar Graph on Blue Background  Stock Illustration - Illustration of circuit, investment: 371473851">
            <a:extLst>
              <a:ext uri="{FF2B5EF4-FFF2-40B4-BE49-F238E27FC236}">
                <a16:creationId xmlns:a16="http://schemas.microsoft.com/office/drawing/2014/main" id="{74D26E8C-E902-C73C-121A-BD4442A40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12192000" cy="676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5566E7-BAA0-617A-1920-42F57387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418" y="2568288"/>
            <a:ext cx="7772400" cy="1072572"/>
          </a:xfrm>
          <a:noFill/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Data Exploration </a:t>
            </a:r>
          </a:p>
        </p:txBody>
      </p:sp>
    </p:spTree>
    <p:extLst>
      <p:ext uri="{BB962C8B-B14F-4D97-AF65-F5344CB8AC3E}">
        <p14:creationId xmlns:p14="http://schemas.microsoft.com/office/powerpoint/2010/main" val="3107048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27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57273" y="218798"/>
            <a:ext cx="683894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rPr>
              <a:t>Word Cloud </a:t>
            </a:r>
            <a:endParaRPr sz="3200" dirty="0">
              <a:latin typeface="+mn-lt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698500" y="5063087"/>
            <a:ext cx="742950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High Engagement Around Events and Locations (SXSW &amp; Austin).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8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Apple Ecosystem Dominates the Conversation.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8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Clear Intentions of Sharing, Community, and Emotion.</a:t>
            </a:r>
          </a:p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2586632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6380A80-163D-EDBF-AD08-C3977C4C6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602862"/>
            <a:ext cx="8158066" cy="442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D753-E41E-9408-F810-015EE81C9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163"/>
            <a:ext cx="3519377" cy="632638"/>
          </a:xfrm>
        </p:spPr>
        <p:txBody>
          <a:bodyPr>
            <a:normAutofit/>
          </a:bodyPr>
          <a:lstStyle/>
          <a:p>
            <a:pPr algn="l"/>
            <a:r>
              <a:rPr lang="en-US" sz="3000" b="1" dirty="0">
                <a:solidFill>
                  <a:schemeClr val="bg1"/>
                </a:solidFill>
                <a:latin typeface="+mn-lt"/>
              </a:rPr>
              <a:t>Checking Outliers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42F42F-E538-27AC-B50D-5C2D9E9F1463}"/>
              </a:ext>
            </a:extLst>
          </p:cNvPr>
          <p:cNvSpPr txBox="1">
            <a:spLocks/>
          </p:cNvSpPr>
          <p:nvPr/>
        </p:nvSpPr>
        <p:spPr>
          <a:xfrm>
            <a:off x="267182" y="5930900"/>
            <a:ext cx="8724417" cy="873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The dataset exhibits relatively consistent vocabulary and thematic content, with no tweets being exceptionally distant from the overall corpus.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E57FC1-6888-5EEA-99D1-DC211DDE5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85800"/>
            <a:ext cx="9987673" cy="524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42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94C5B-3A08-13A0-4736-C76F8CC56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C9390-3542-7D33-48EA-F78BFEA29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163"/>
            <a:ext cx="5524500" cy="632638"/>
          </a:xfrm>
        </p:spPr>
        <p:txBody>
          <a:bodyPr>
            <a:normAutofit fontScale="90000"/>
          </a:bodyPr>
          <a:lstStyle/>
          <a:p>
            <a:pPr algn="l"/>
            <a:r>
              <a:rPr lang="en-US" sz="3000" b="1" dirty="0">
                <a:solidFill>
                  <a:schemeClr val="bg1"/>
                </a:solidFill>
                <a:latin typeface="+mn-lt"/>
              </a:rPr>
              <a:t>Top 15 Product/Brand Mention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BF37C3-23B1-5ACF-88C6-3D455F187FEA}"/>
              </a:ext>
            </a:extLst>
          </p:cNvPr>
          <p:cNvSpPr txBox="1">
            <a:spLocks/>
          </p:cNvSpPr>
          <p:nvPr/>
        </p:nvSpPr>
        <p:spPr>
          <a:xfrm>
            <a:off x="112378" y="5519247"/>
            <a:ext cx="11800222" cy="1213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The most frequent words across all sentiment classes were product and brand names rather than emotional terms. Apple dominated Google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58CE44-ECC5-0AC9-FBB2-7A45355DA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0700"/>
            <a:ext cx="10345831" cy="499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00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B9024-5F93-4CFB-AE31-E772C2CD3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74157-0E61-B111-43CA-D0DA99D91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163"/>
            <a:ext cx="5524500" cy="632638"/>
          </a:xfrm>
        </p:spPr>
        <p:txBody>
          <a:bodyPr>
            <a:normAutofit/>
          </a:bodyPr>
          <a:lstStyle/>
          <a:p>
            <a:pPr algn="l"/>
            <a:r>
              <a:rPr lang="en-US" sz="3000" b="1" dirty="0">
                <a:solidFill>
                  <a:schemeClr val="bg1"/>
                </a:solidFill>
                <a:latin typeface="+mn-lt"/>
              </a:rPr>
              <a:t>Checking Data Imbalance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DE287B5-F989-3AB6-7747-9C70CDEEC870}"/>
              </a:ext>
            </a:extLst>
          </p:cNvPr>
          <p:cNvSpPr txBox="1">
            <a:spLocks/>
          </p:cNvSpPr>
          <p:nvPr/>
        </p:nvSpPr>
        <p:spPr>
          <a:xfrm>
            <a:off x="112378" y="5644803"/>
            <a:ext cx="11800222" cy="1213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SMOTE balanced dataset of 12,900 samples and increased the training set size by approximately 81%.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Thereby improving balanced decision and enhancing minority-class prediction performance.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DF5B72-AE33-5DC3-224B-F5244E9FA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5800"/>
            <a:ext cx="11800222" cy="496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63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A72AE6-1F57-83AE-B2DE-BCECBA795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What is data modeling? - Keele University - Study online">
            <a:extLst>
              <a:ext uri="{FF2B5EF4-FFF2-40B4-BE49-F238E27FC236}">
                <a16:creationId xmlns:a16="http://schemas.microsoft.com/office/drawing/2014/main" id="{DE866563-2986-C5AC-6D52-89E2125F1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1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6F833B-7FB3-6B47-314C-AE3CFC68A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418" y="2568288"/>
            <a:ext cx="7772400" cy="1072572"/>
          </a:xfrm>
          <a:noFill/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Data Modeling </a:t>
            </a:r>
          </a:p>
        </p:txBody>
      </p:sp>
    </p:spTree>
    <p:extLst>
      <p:ext uri="{BB962C8B-B14F-4D97-AF65-F5344CB8AC3E}">
        <p14:creationId xmlns:p14="http://schemas.microsoft.com/office/powerpoint/2010/main" val="1220066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FA91D7-9D41-CD8D-E563-C5281AAC8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5335-384C-2305-F9DF-C55F968F7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163"/>
            <a:ext cx="5524500" cy="632638"/>
          </a:xfrm>
        </p:spPr>
        <p:txBody>
          <a:bodyPr>
            <a:normAutofit/>
          </a:bodyPr>
          <a:lstStyle/>
          <a:p>
            <a:pPr algn="l"/>
            <a:r>
              <a:rPr lang="en-US" sz="3000" b="1" dirty="0">
                <a:solidFill>
                  <a:schemeClr val="bg1"/>
                </a:solidFill>
                <a:latin typeface="+mn-lt"/>
              </a:rPr>
              <a:t>Model Comparison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77C8729-DE66-B68C-BE27-76B5199044D9}"/>
              </a:ext>
            </a:extLst>
          </p:cNvPr>
          <p:cNvSpPr txBox="1">
            <a:spLocks/>
          </p:cNvSpPr>
          <p:nvPr/>
        </p:nvSpPr>
        <p:spPr>
          <a:xfrm>
            <a:off x="0" y="5448939"/>
            <a:ext cx="11800222" cy="1213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The "Imbalanced Test Set" Trap: Even though SMOTE balanced instances, there still exists highly imbalance.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Logistic Regression was chosen for tuning because, it handles Class 0 significantly better and Higher Macro Average and lots of room for Optimization.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54FAD7-218B-4F85-72E7-6C0AC8424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5801"/>
            <a:ext cx="12177950" cy="454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376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110">
          <a:extLst>
            <a:ext uri="{FF2B5EF4-FFF2-40B4-BE49-F238E27FC236}">
              <a16:creationId xmlns:a16="http://schemas.microsoft.com/office/drawing/2014/main" id="{C18864F9-E87A-DBE3-07B2-DC90E4DB0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>
            <a:extLst>
              <a:ext uri="{FF2B5EF4-FFF2-40B4-BE49-F238E27FC236}">
                <a16:creationId xmlns:a16="http://schemas.microsoft.com/office/drawing/2014/main" id="{06160AFC-EEF3-1736-AE10-4C8467A6B4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2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422D6452-A286-AD02-7F51-339F5F754BCE}"/>
              </a:ext>
            </a:extLst>
          </p:cNvPr>
          <p:cNvSpPr txBox="1"/>
          <p:nvPr/>
        </p:nvSpPr>
        <p:spPr>
          <a:xfrm>
            <a:off x="280554" y="114300"/>
            <a:ext cx="1074766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rPr>
              <a:t>Tuned Logistic Regression.</a:t>
            </a:r>
            <a:endParaRPr dirty="0">
              <a:latin typeface="+mn-lt"/>
            </a:endParaRPr>
          </a:p>
        </p:txBody>
      </p:sp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96E3555C-6DDB-BBFD-DCB4-C2725AD476BF}"/>
              </a:ext>
            </a:extLst>
          </p:cNvPr>
          <p:cNvSpPr txBox="1"/>
          <p:nvPr/>
        </p:nvSpPr>
        <p:spPr>
          <a:xfrm>
            <a:off x="7034646" y="722169"/>
            <a:ext cx="5157354" cy="473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The Trade-Off (Accuracy vs. Balance): Raw accuracy dropped 67.75% to 66.85%.</a:t>
            </a: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Macro Average F1-score increased from 0.58 to 0.59 confirming the model is better.</a:t>
            </a: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Class 1 (Majority) stabilized precision (0.75) and recall (0.74)). Class 2 precision and recall of 0.58. </a:t>
            </a: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1" i="0" dirty="0">
              <a:solidFill>
                <a:schemeClr val="bg1"/>
              </a:solidFill>
              <a:effectLst/>
              <a:latin typeface="+mn-lt"/>
            </a:endParaRPr>
          </a:p>
          <a:p>
            <a:pPr marR="0" lvl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.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66094E18-AA77-F60A-CC20-90E18EF37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7879"/>
            <a:ext cx="7034646" cy="6210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087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110">
          <a:extLst>
            <a:ext uri="{FF2B5EF4-FFF2-40B4-BE49-F238E27FC236}">
              <a16:creationId xmlns:a16="http://schemas.microsoft.com/office/drawing/2014/main" id="{733B5EAB-3461-F9DE-573D-AA87C40CB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>
            <a:extLst>
              <a:ext uri="{FF2B5EF4-FFF2-40B4-BE49-F238E27FC236}">
                <a16:creationId xmlns:a16="http://schemas.microsoft.com/office/drawing/2014/main" id="{2FEE0FF2-403F-A96A-A2DC-24A1A8BFE5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AB297BD9-5BF4-1210-4FB1-2836C0793681}"/>
              </a:ext>
            </a:extLst>
          </p:cNvPr>
          <p:cNvSpPr txBox="1"/>
          <p:nvPr/>
        </p:nvSpPr>
        <p:spPr>
          <a:xfrm>
            <a:off x="166254" y="179427"/>
            <a:ext cx="1074766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rPr>
              <a:t>SHAP Explainability</a:t>
            </a:r>
            <a:endParaRPr dirty="0">
              <a:latin typeface="+mn-lt"/>
            </a:endParaRPr>
          </a:p>
        </p:txBody>
      </p:sp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C53C58EC-20F8-7ABF-CFF7-5F2724F49788}"/>
              </a:ext>
            </a:extLst>
          </p:cNvPr>
          <p:cNvSpPr txBox="1"/>
          <p:nvPr/>
        </p:nvSpPr>
        <p:spPr>
          <a:xfrm>
            <a:off x="29065" y="5515178"/>
            <a:ext cx="10575434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+mn-lt"/>
              </a:rPr>
              <a:t>Words like "</a:t>
            </a:r>
            <a:r>
              <a:rPr lang="en-US" sz="1800" b="1" dirty="0" err="1">
                <a:solidFill>
                  <a:schemeClr val="bg1"/>
                </a:solidFill>
                <a:latin typeface="+mn-lt"/>
              </a:rPr>
              <a:t>ipad</a:t>
            </a:r>
            <a:r>
              <a:rPr lang="en-US" sz="1800" b="1" dirty="0">
                <a:solidFill>
                  <a:schemeClr val="bg1"/>
                </a:solidFill>
                <a:latin typeface="+mn-lt"/>
              </a:rPr>
              <a:t>", "</a:t>
            </a:r>
            <a:r>
              <a:rPr lang="en-US" sz="1800" b="1" dirty="0" err="1">
                <a:solidFill>
                  <a:schemeClr val="bg1"/>
                </a:solidFill>
                <a:latin typeface="+mn-lt"/>
              </a:rPr>
              <a:t>iphone</a:t>
            </a:r>
            <a:r>
              <a:rPr lang="en-US" sz="1800" b="1" dirty="0">
                <a:solidFill>
                  <a:schemeClr val="bg1"/>
                </a:solidFill>
                <a:latin typeface="+mn-lt"/>
              </a:rPr>
              <a:t>", "apple", and "app" have a strong negative impact, when they appear in a text.</a:t>
            </a:r>
          </a:p>
          <a:p>
            <a:pPr marR="0" lvl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</a:pPr>
            <a:endParaRPr lang="en-US" sz="1800" b="1" i="0" dirty="0"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64F7E9-CB02-2030-037B-39F2512A7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65" y="644358"/>
            <a:ext cx="8534651" cy="466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68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110">
          <a:extLst>
            <a:ext uri="{FF2B5EF4-FFF2-40B4-BE49-F238E27FC236}">
              <a16:creationId xmlns:a16="http://schemas.microsoft.com/office/drawing/2014/main" id="{3B70D562-6A67-80F7-2D03-D24CCE282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>
            <a:extLst>
              <a:ext uri="{FF2B5EF4-FFF2-40B4-BE49-F238E27FC236}">
                <a16:creationId xmlns:a16="http://schemas.microsoft.com/office/drawing/2014/main" id="{E1D7606A-CE8A-10C9-738C-CF6E068A6B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2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CE237815-24A9-91E9-4338-103ACF15D3ED}"/>
              </a:ext>
            </a:extLst>
          </p:cNvPr>
          <p:cNvSpPr txBox="1"/>
          <p:nvPr/>
        </p:nvSpPr>
        <p:spPr>
          <a:xfrm>
            <a:off x="280554" y="114300"/>
            <a:ext cx="1074766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rPr>
              <a:t>Lime </a:t>
            </a:r>
            <a:r>
              <a:rPr lang="en-US" sz="3600" b="1" dirty="0" err="1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rPr>
              <a:t>Explainablity</a:t>
            </a:r>
            <a:r>
              <a:rPr lang="en-US" sz="36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rPr>
              <a:t>.</a:t>
            </a:r>
            <a:endParaRPr dirty="0">
              <a:latin typeface="+mn-lt"/>
            </a:endParaRPr>
          </a:p>
        </p:txBody>
      </p:sp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8C19AA8F-CEEF-1775-CB5C-FF252104422F}"/>
              </a:ext>
            </a:extLst>
          </p:cNvPr>
          <p:cNvSpPr txBox="1"/>
          <p:nvPr/>
        </p:nvSpPr>
        <p:spPr>
          <a:xfrm>
            <a:off x="5124450" y="663484"/>
            <a:ext cx="6807200" cy="486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The word "</a:t>
            </a:r>
            <a:r>
              <a:rPr lang="en-US" sz="2000" b="1" dirty="0" err="1">
                <a:solidFill>
                  <a:schemeClr val="bg1"/>
                </a:solidFill>
                <a:latin typeface="+mn-lt"/>
              </a:rPr>
              <a:t>ipad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” previously associated with negative emotions dragging predictions down.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  <a:latin typeface="+mn-l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In LIME when paired with positive content the model combines them to score it as a highly positive sentiment.</a:t>
            </a: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.</a:t>
            </a: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Class 1 (Majority) stabilized precision (0.75) and recall (0.74)). Class 2 precision and recall of 0.58.</a:t>
            </a: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  <a:latin typeface="+mn-lt"/>
            </a:endParaRP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While SHAP shows how a word's meaning shifts depending on the company it keeps in a specific sentence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32AF91-3895-D6C2-1EC9-DF3207F99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3484"/>
            <a:ext cx="4864100" cy="627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41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0F358-4F96-B703-72E8-2C1F1948C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Why Data Analytics is Important for Digital Transformation?">
            <a:extLst>
              <a:ext uri="{FF2B5EF4-FFF2-40B4-BE49-F238E27FC236}">
                <a16:creationId xmlns:a16="http://schemas.microsoft.com/office/drawing/2014/main" id="{F2730D2A-78EC-B985-EBF4-AA73A5016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7275"/>
            <a:ext cx="12192000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25B26A-1956-80AA-9E80-6D301B250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31637" y="2679124"/>
            <a:ext cx="7772400" cy="1072572"/>
          </a:xfrm>
          <a:noFill/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1725446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ED6EEED4-4ED6-F45E-44D1-745C16BED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>
            <a:extLst>
              <a:ext uri="{FF2B5EF4-FFF2-40B4-BE49-F238E27FC236}">
                <a16:creationId xmlns:a16="http://schemas.microsoft.com/office/drawing/2014/main" id="{9E1B65FE-72F3-EE3F-7890-9C34223257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>
            <a:extLst>
              <a:ext uri="{FF2B5EF4-FFF2-40B4-BE49-F238E27FC236}">
                <a16:creationId xmlns:a16="http://schemas.microsoft.com/office/drawing/2014/main" id="{0674B50B-371A-8B8B-D279-DA5E39F9A072}"/>
              </a:ext>
            </a:extLst>
          </p:cNvPr>
          <p:cNvSpPr txBox="1"/>
          <p:nvPr/>
        </p:nvSpPr>
        <p:spPr>
          <a:xfrm>
            <a:off x="482600" y="138251"/>
            <a:ext cx="1006938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+mn-lt"/>
              </a:rPr>
              <a:t>Business Perspective Insights</a:t>
            </a:r>
          </a:p>
        </p:txBody>
      </p:sp>
      <p:sp>
        <p:nvSpPr>
          <p:cNvPr id="3" name="Google Shape;147;p17">
            <a:extLst>
              <a:ext uri="{FF2B5EF4-FFF2-40B4-BE49-F238E27FC236}">
                <a16:creationId xmlns:a16="http://schemas.microsoft.com/office/drawing/2014/main" id="{755842BA-7675-C165-F54C-8AC8417EE6AA}"/>
              </a:ext>
            </a:extLst>
          </p:cNvPr>
          <p:cNvSpPr txBox="1"/>
          <p:nvPr/>
        </p:nvSpPr>
        <p:spPr>
          <a:xfrm>
            <a:off x="241300" y="1010244"/>
            <a:ext cx="10069384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+mn-lt"/>
              </a:rPr>
              <a:t>Deploy the Automated Alert Engine Immediately.</a:t>
            </a:r>
            <a:endParaRPr lang="en-US" sz="1800" b="1" dirty="0">
              <a:solidFill>
                <a:schemeClr val="bg1"/>
              </a:solidFill>
              <a:latin typeface="+mn-lt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800" b="1" i="0" dirty="0">
              <a:solidFill>
                <a:schemeClr val="bg1"/>
              </a:solidFill>
              <a:effectLst/>
              <a:latin typeface="+mn-lt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+mn-lt"/>
              </a:rPr>
              <a:t>Prioritize the "Negative Class" Guardrails.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800" b="1" i="0" dirty="0">
              <a:solidFill>
                <a:schemeClr val="bg1"/>
              </a:solidFill>
              <a:effectLst/>
              <a:latin typeface="+mn-lt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+mn-lt"/>
              </a:rPr>
              <a:t>Build Live Corporate Brand Health Dashboards.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800" b="1" i="0" dirty="0">
              <a:solidFill>
                <a:schemeClr val="bg1"/>
              </a:solidFill>
              <a:effectLst/>
              <a:latin typeface="+mn-lt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+mn-lt"/>
              </a:rPr>
              <a:t>Exploit the Real-Time Competitive Edge.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800" b="1" i="0" dirty="0">
              <a:solidFill>
                <a:schemeClr val="bg1"/>
              </a:solidFill>
              <a:effectLst/>
              <a:latin typeface="+mn-lt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+mn-lt"/>
              </a:rPr>
              <a:t>Bridge the Communication Gap Between Tech and Business.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800" b="1" i="0" dirty="0">
              <a:solidFill>
                <a:schemeClr val="bg1"/>
              </a:solidFill>
              <a:effectLst/>
              <a:latin typeface="+mn-lt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+mn-lt"/>
              </a:rPr>
              <a:t>Optimize Human Resource Allocation to customer experience teams to follow up.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sz="1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8114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/>
          <p:cNvSpPr txBox="1"/>
          <p:nvPr/>
        </p:nvSpPr>
        <p:spPr>
          <a:xfrm>
            <a:off x="295275" y="2602259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Words>568</Words>
  <Application>Microsoft Macintosh PowerPoint</Application>
  <PresentationFormat>Widescreen</PresentationFormat>
  <Paragraphs>104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 Black</vt:lpstr>
      <vt:lpstr>Courier New</vt:lpstr>
      <vt:lpstr>Urbanist</vt:lpstr>
      <vt:lpstr>Arial</vt:lpstr>
      <vt:lpstr>Helvetica Neue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Data Exploration </vt:lpstr>
      <vt:lpstr>PowerPoint Presentation</vt:lpstr>
      <vt:lpstr>Checking Outliers </vt:lpstr>
      <vt:lpstr>Top 15 Product/Brand Mention</vt:lpstr>
      <vt:lpstr>Checking Data Imbalance</vt:lpstr>
      <vt:lpstr>Data Modeling </vt:lpstr>
      <vt:lpstr>Model Comparison</vt:lpstr>
      <vt:lpstr>PowerPoint Presentation</vt:lpstr>
      <vt:lpstr>PowerPoint Presentation</vt:lpstr>
      <vt:lpstr>PowerPoint Presentation</vt:lpstr>
      <vt:lpstr>Insights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jane</cp:lastModifiedBy>
  <cp:revision>9</cp:revision>
  <cp:lastPrinted>2026-05-05T22:48:45Z</cp:lastPrinted>
  <dcterms:modified xsi:type="dcterms:W3CDTF">2026-06-15T09:02:48Z</dcterms:modified>
</cp:coreProperties>
</file>